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image" Target="../media/image-3-9.png"/><Relationship Id="rId10" Type="http://schemas.openxmlformats.org/officeDocument/2006/relationships/image" Target="../media/image-3-10.svg"/><Relationship Id="rId11" Type="http://schemas.openxmlformats.org/officeDocument/2006/relationships/image" Target="../media/image-3-11.png"/><Relationship Id="rId12" Type="http://schemas.openxmlformats.org/officeDocument/2006/relationships/image" Target="../media/image-3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80160"/>
            <a:ext cx="109728" cy="4206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" y="1280160"/>
            <a:ext cx="2560320" cy="329184"/>
          </a:xfrm>
          <a:prstGeom prst="roundRect">
            <a:avLst>
              <a:gd name="adj" fmla="val 1388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28016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2 TECHNICAL HANDOVER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" y="178308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RoadSense: Week 2 Progress
</a:t>
            </a:r>
            <a:pPr indent="0" marL="0">
              <a:buNone/>
            </a:pPr>
            <a:r>
              <a:rPr lang="en-US" sz="1600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Fusion, 100 Hz Kinematics &amp; High-Throughput MCAP Perception Cockpit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51560" y="3108960"/>
            <a:ext cx="1040861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3337560"/>
            <a:ext cx="3310128" cy="2148840"/>
          </a:xfrm>
          <a:prstGeom prst="roundRect">
            <a:avLst>
              <a:gd name="adj" fmla="val 2553"/>
            </a:avLst>
          </a:prstGeom>
          <a:solidFill>
            <a:srgbClr val="F0F9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3474720"/>
            <a:ext cx="294436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PERCEPTION &amp; CALIBRATION
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6-DOF Spatial Fusion &amp; RViz HUD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Closed-form O(1) Reverse Touch Solver, pinhole intrinsics K, hybrid radar lollipops with 12-segment road footprints &amp; perspective range rings.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99432" y="3337560"/>
            <a:ext cx="3310128" cy="2148840"/>
          </a:xfrm>
          <a:prstGeom prst="roundRect">
            <a:avLst>
              <a:gd name="adj" fmla="val 2553"/>
            </a:avLst>
          </a:prstGeom>
          <a:solidFill>
            <a:srgbClr val="FAF5FF"/>
          </a:solidFill>
          <a:ln w="15240">
            <a:solidFill>
              <a:srgbClr val="7E22C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82312" y="3474720"/>
            <a:ext cx="294436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7E22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VEHICLE DYNAMICS
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Hz LSM6DSL Kinematics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Sub-2ms jitter tracking, gravity-removed linear acceleration, magnetic-immune 6-DOF game rotation vectors, and dedicated thread acquisition.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47304" y="3337560"/>
            <a:ext cx="3310128" cy="2148840"/>
          </a:xfrm>
          <a:prstGeom prst="roundRect">
            <a:avLst>
              <a:gd name="adj" fmla="val 2553"/>
            </a:avLst>
          </a:prstGeom>
          <a:solidFill>
            <a:srgbClr val="F0FDF4"/>
          </a:solidFill>
          <a:ln w="1524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30184" y="3474720"/>
            <a:ext cx="294436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TOOLCHAIN &amp; PERFORMANCE
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MCAP Pipeline &amp; Web Dashboard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Zero-cost H.264 bitstream demuxing at &gt;11,500 FPS (~3.4s) with zero GPU load, local SSE web server at :8088, and root cause post-mortems for Bugs #11-#15.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051560" y="5852160"/>
            <a:ext cx="10408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Date: September 29, 2026   |   Target: Android 14 (API 34)   |   Test Invariants: 100% JVM Tests Passing (24/24)   |   Author: RoadSense Engineering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2179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2 Sprint Deliverables: From Logger to Perception Platform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Consolidating on-device calibration, high-rate kinematics, and desktop analytics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9811512" y="41148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11512" y="4114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ROADSENSE • WEEK 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89888"/>
            <a:ext cx="1072865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0" y="6492240"/>
            <a:ext cx="1584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 of 11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64922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• BAJAJ AUTO LTD. • ADVANCED PERCEPTION &amp; TELEMETRY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1600200"/>
            <a:ext cx="3337560" cy="3931920"/>
          </a:xfrm>
          <a:prstGeom prst="roundRect">
            <a:avLst>
              <a:gd name="adj" fmla="val 1644"/>
            </a:avLst>
          </a:prstGeom>
          <a:solidFill>
            <a:srgbClr val="F8FAFC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83080"/>
            <a:ext cx="2971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On-Device Spatial Fusion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6-DOF Rigid Transform ([R|T]):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Lateral X, Setback Y, Height Z, Pitch θ, Yaw ψ, Roll φ. Persistent JSON profiles.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Reverse Touch Solver (O(1)):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Instant calibration snap from single viewfinder tap without physical laser rigs.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RViz-Inspired Radar Lollipops: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12-segment road footprints, vertical projection stems, and Painter's depth sorting.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Perspective Range Rings: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Concentric ground arcs at 10m, 30m, 60m, 120m clamped to camera horizontal FOV.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25696" y="1600200"/>
            <a:ext cx="3337560" cy="3931920"/>
          </a:xfrm>
          <a:prstGeom prst="roundRect">
            <a:avLst>
              <a:gd name="adj" fmla="val 1644"/>
            </a:avLst>
          </a:prstGeom>
          <a:solidFill>
            <a:srgbClr val="F8FAFC"/>
          </a:solidFill>
          <a:ln w="15240">
            <a:solidFill>
              <a:srgbClr val="7E22C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08576" y="1783080"/>
            <a:ext cx="2971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E22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100 Hz Vehicle Kinematics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 LSM6DSL 100 Hz ASIC: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High-rate accelerometer and gyroscope acquisition via dedicated listener thread.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Gravity-Subtracted Linear Accel: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On-device sensor fusion removing Earth gravity (9.81 m/s²) for true dynamic braking/accel.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6-DOF Game Rotation Vector: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Magnetic-immune orientation quaternion (x,y,z,w) safe from EV inverter EMF.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Real-Time Jitter Profiler: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Nanosecond monotonic tracking guaranteeing &lt;2ms jitter across continuous drive logs.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19872" y="1600200"/>
            <a:ext cx="3337560" cy="3931920"/>
          </a:xfrm>
          <a:prstGeom prst="roundRect">
            <a:avLst>
              <a:gd name="adj" fmla="val 1644"/>
            </a:avLst>
          </a:prstGeom>
          <a:solidFill>
            <a:srgbClr val="F8FAFC"/>
          </a:solidFill>
          <a:ln w="15240">
            <a:solidFill>
              <a:srgbClr val="1580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2752" y="1783080"/>
            <a:ext cx="2971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PC Operations &amp; MCAP Toolchain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Zero-Cost Video Demuxing (&gt;11,500 FPS):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Demuxes H.264 bitstream directly into MCAP in ~3.4s with 0% GPU load via /tf roll fold.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Zero-Dependency Web Dashboard: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Local Python HTTP server on port 8088 with Server-Sent Events (SSE) live progress.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Hardware NVENC Transcoder (~650 FPS):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Enforces closed GOP 30 &amp; IDR keyframes eliminating video seek freeze bugs.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Foxglove Studio Integration: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Auto-embeds RoadSense_Cockpit_Layout.json directly inside every single .mcap container.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5669280"/>
            <a:ext cx="10728655" cy="640080"/>
          </a:xfrm>
          <a:prstGeom prst="roundRect">
            <a:avLst>
              <a:gd name="adj" fmla="val 8571"/>
            </a:avLst>
          </a:prstGeom>
          <a:solidFill>
            <a:srgbClr val="EFF6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71500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SYSTEM HARDENING COMPLETED: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 post-mortems conducted and permanently resolved for Bug #11 (28B Stride Aliasing), Bug #12 (Exynos AUX Camera ISP Limit), Bug #13 (Foxglove Ghost Tracks via Static Entity ID), Bug #14 (1-sec GOP 30 Seek Freeze), and Bug #15 (Zero-Cost 180° /tf Camera Frame Roll).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PERCEPTION &amp; SENSOR FUSION ENGINEERING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2179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6-DOF Spatial Calibration &amp; Perspective Projection Math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Rigorous mathematical formulation for cross-sensor extrinsic alignment and closed-form angular recovery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9811512" y="41148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11512" y="4114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ROADSENSE • WEEK 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89888"/>
            <a:ext cx="1072865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0" y="6492240"/>
            <a:ext cx="1584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 of 11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64922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• BAJAJ AUTO LTD. • ADVANCED PERCEPTION &amp; TELEMETRY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1417320"/>
            <a:ext cx="5257800" cy="4937760"/>
          </a:xfrm>
          <a:prstGeom prst="roundRect">
            <a:avLst>
              <a:gd name="adj" fmla="val 1111"/>
            </a:avLst>
          </a:prstGeom>
          <a:solidFill>
            <a:srgbClr val="F8FAFC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581912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Coordinate Frame Conventions:
</a:t>
            </a:r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Radar Frame {R}: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+X_R = Right,  +Y_R = Forward (boresight),  +Z_R = Up.
</a:t>
            </a:r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Camera Optical Frame {C}: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+X_C = Right,  +Y_C = Down,  +Z_C = Optical Depth (Forward).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25146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Translation &amp; Axis Transformation: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point 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P_R = [X_R, Y_R, Z_R]^T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translated by physical lever-arm offset 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rotated by Euler angles (pitch θ, yaw ψ, roll φ):</a:t>
            </a:r>
            <a:endParaRPr lang="en-US" sz="1100" dirty="0"/>
          </a:p>
        </p:txBody>
      </p:sp>
      <p:pic>
        <p:nvPicPr>
          <p:cNvPr id="13" name="Image 0" descr="C:\Users\rakadu1.AHEAD\AndroidStudioProjects\RoadSense\intel\presentations\assets\generated_math\eq_p_vehicl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23060" y="3108960"/>
            <a:ext cx="3474720" cy="28779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14400" y="35204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align the vehicle/radar axes into camera optical frame {C}, we apply the permutation matrix 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M_axis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endParaRPr lang="en-US" sz="900" dirty="0"/>
          </a:p>
        </p:txBody>
      </p:sp>
      <p:pic>
        <p:nvPicPr>
          <p:cNvPr id="15" name="Image 1" descr="C:\Users\rakadu1.AHEAD\AndroidStudioProjects\RoadSense\intel\presentations\assets\generated_math\eq_m_axis_matrix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19178" y="3931920"/>
            <a:ext cx="1682484" cy="6858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914400" y="47548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maps: </a:t>
            </a:r>
            <a:pPr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X_C = X_veh,  Y_C = -Z_veh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(up becomes down),  </a:t>
            </a:r>
            <a:pPr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Z_C = Y_veh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(forward becomes optical depth).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914400" y="53492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Zero-Calibration Rig Requirement: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Rigid-body baseline offsets [ΔX, ΔY, ΔZ] are measured directly at installation, decoupling translation from orientation.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6199632" y="1417320"/>
            <a:ext cx="5257800" cy="4937760"/>
          </a:xfrm>
          <a:prstGeom prst="roundRect">
            <a:avLst>
              <a:gd name="adj" fmla="val 1111"/>
            </a:avLst>
          </a:prstGeom>
          <a:solidFill>
            <a:srgbClr val="F8FAFC"/>
          </a:solidFill>
          <a:ln w="15240">
            <a:solidFill>
              <a:srgbClr val="0284C7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382512" y="158191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Pinhole Perspective Projection:</a:t>
            </a:r>
            <a:endParaRPr lang="en-US" sz="1100" dirty="0"/>
          </a:p>
        </p:txBody>
      </p:sp>
      <p:pic>
        <p:nvPicPr>
          <p:cNvPr id="20" name="Image 2" descr="C:\Users\rakadu1.AHEAD\AndroidStudioProjects\RoadSense\intel\presentations\assets\generated_math\eq_pinhole_matrix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26345" y="1874520"/>
            <a:ext cx="2804374" cy="594360"/>
          </a:xfrm>
          <a:prstGeom prst="rect">
            <a:avLst/>
          </a:prstGeom>
        </p:spPr>
      </p:pic>
      <p:pic>
        <p:nvPicPr>
          <p:cNvPr id="21" name="Image 3" descr="C:\Users\rakadu1.AHEAD\AndroidStudioProjects\RoadSense\intel\presentations\assets\generated_math\eq_perspective_division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30619" y="2532888"/>
            <a:ext cx="2595826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82512" y="295351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[fx, fy, cx, cy]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are retrieved programmatically from Android's </a:t>
            </a:r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CameraCharacteristics.LENS_INTRINSIC_CALIBRATION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850" dirty="0"/>
          </a:p>
        </p:txBody>
      </p:sp>
      <p:sp>
        <p:nvSpPr>
          <p:cNvPr id="23" name="Text 17"/>
          <p:cNvSpPr/>
          <p:nvPr/>
        </p:nvSpPr>
        <p:spPr>
          <a:xfrm>
            <a:off x="6382512" y="33832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Closed-Form Reverse Touch Solver (O(1) Calibration):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Instead of iterative non-linear optimization or checkerboards, the user taps a vehicle bounding centroid 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(u_tap, v_tap)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at radar distance 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endParaRPr lang="en-US" sz="1100" dirty="0"/>
          </a:p>
        </p:txBody>
      </p:sp>
      <p:pic>
        <p:nvPicPr>
          <p:cNvPr id="24" name="Image 4" descr="C:\Users\rakadu1.AHEAD\AndroidStudioProjects\RoadSense\intel\presentations\assets\generated_math\eq_norm_ray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84811" y="3977640"/>
            <a:ext cx="2687442" cy="347472"/>
          </a:xfrm>
          <a:prstGeom prst="rect">
            <a:avLst/>
          </a:prstGeom>
        </p:spPr>
      </p:pic>
      <p:pic>
        <p:nvPicPr>
          <p:cNvPr id="25" name="Image 5" descr="C:\Users\rakadu1.AHEAD\AndroidStudioProjects\RoadSense\intel\presentations\assets\generated_math\eq_angle_recovery.sv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382512" y="4398264"/>
            <a:ext cx="4892040" cy="32918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382512" y="48920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Instant Track Convergence: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Recovers pitch and yaw in &lt;1 ms with zero gradient descent or bundle adjustment. Guarantees instant, repeatable calibration right on the test track.</a:t>
            </a:r>
            <a:endParaRPr lang="en-US" sz="850" dirty="0"/>
          </a:p>
        </p:txBody>
      </p:sp>
      <p:sp>
        <p:nvSpPr>
          <p:cNvPr id="27" name="Text 19"/>
          <p:cNvSpPr/>
          <p:nvPr/>
        </p:nvSpPr>
        <p:spPr>
          <a:xfrm>
            <a:off x="6382512" y="5440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Persistent JSON &amp; Monotonic Sync: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Angles are saved to calibration/radar_camera_calib.json and attached directly to session MCAP containers for unified Foxglove playback.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PERCEPTION VISUALIZATION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2179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RViz-Inspired Hybrid Radar Lollipops &amp; Perspective Range Rings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Overcoming 3D-to-2D depth ambiguity with ground footprints and Painter's sorting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9811512" y="41148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11512" y="4114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ROADSENSE • WEEK 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89888"/>
            <a:ext cx="1072865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0" y="6492240"/>
            <a:ext cx="1584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4 of 11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64922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• BAJAJ AUTO LTD. • ADVANCED PERCEPTION &amp; TELEMETRY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1600200"/>
            <a:ext cx="5166360" cy="4709160"/>
          </a:xfrm>
          <a:prstGeom prst="roundRect">
            <a:avLst>
              <a:gd name="adj" fmla="val 1165"/>
            </a:avLst>
          </a:prstGeom>
          <a:solidFill>
            <a:srgbClr val="F8FAFC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83080"/>
            <a:ext cx="480060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Depth Ambiguity &amp; Visual Architecture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The 3D-to-2D Perspective Challenge: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Standard radar point reprojection renders floating 2D dots, making it impossible for human drivers or annotators to discern vehicle ground contact.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RViz-Inspired Hybrid Lollipop Structure: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Road Footprint: 12-segment perspective ellipse projected onto the road plane (Z = 0) showing vehicle contact patch.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Vertical Stem: Translucent line rising from ground plane to physical detection height.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Centroid Sphere: Color-coded detection head showing Doppler velocity (m/s).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Painter's Algorithm Depth-Sorting:
</a:t>
            </a:r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• Invariant: lollipops.sortByDescending { it.depthM }.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Ensures distant targets (100m) render first, and close targets (10m) render cleanly on top without foreground occlusion artifacts.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Staggered Perspective Range Rings: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Concentric ground distance arcs at 10m, 30m, 60m, 120m clamped to camera HFOV with staggered distance labels preventing visual clutter.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91072" y="1600200"/>
            <a:ext cx="5166360" cy="4709160"/>
          </a:xfrm>
          <a:prstGeom prst="roundRect">
            <a:avLst>
              <a:gd name="adj" fmla="val 1165"/>
            </a:avLst>
          </a:prstGeom>
          <a:solidFill>
            <a:srgbClr val="F1F5F9"/>
          </a:solidFill>
          <a:ln w="19050">
            <a:solidFill>
              <a:srgbClr val="1D4ED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473952" y="1874520"/>
            <a:ext cx="480060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COCKPIT VIEWFINDER HUD SLOT ]
</a:t>
            </a:r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ViewfinderRadarOverlay in Cockpit Studio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1080p preview demonstrating perspective radar projections: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12-segment road contact ellipses (Ground Z=0)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Vertical perspective stems connecting ground to target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Doppler velocity color mapping (Approach Red / Recede Green)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Staggered distance range rings (10m, 30m, 60m, 120m)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dropped frames at 20 Hz radar + 30 FPS Camera2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VEHICLE DYNAMICS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2179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Hz LSM6DSL IMU Integration &amp; Real-Time Jitter Profiler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Capturing vehicle chassis dynamics, pitch/roll, and magnetic-immune orientation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9811512" y="41148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11512" y="4114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ROADSENSE • WEEK 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89888"/>
            <a:ext cx="1072865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0" y="6492240"/>
            <a:ext cx="1584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5 of 11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64922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• BAJAJ AUTO LTD. • ADVANCED PERCEPTION &amp; TELEMETRY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1600200"/>
            <a:ext cx="3337560" cy="4709160"/>
          </a:xfrm>
          <a:prstGeom prst="roundRect">
            <a:avLst>
              <a:gd name="adj" fmla="val 1644"/>
            </a:avLst>
          </a:prstGeom>
          <a:solidFill>
            <a:srgbClr val="F8FAFC"/>
          </a:solidFill>
          <a:ln w="15240">
            <a:solidFill>
              <a:srgbClr val="7E22C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83080"/>
            <a:ext cx="297180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E22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ASIC Hardware &amp; Acquisition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 LSM6DSL Sensor Hub: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Integrated 6-axis inertial measurement unit (3-axis accelerometer + 3-axis gyroscope) with ultra-low noise density.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SENSOR_DELAY_FASTEST Rate: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Operating at 100 Hz nominal acquisition frequency (~10.0 ms sampling interval).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Dedicated Listener Thread: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Isolated SensorEventListener running on a dedicated HandlerThread to prevent UI thread contention.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Monotonic Hardware Clock: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Timestamped with SystemClock.elapsedRealtimeNanos() matching Camera2 HAL and TI mmWave radar streams.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25696" y="1600200"/>
            <a:ext cx="3337560" cy="4709160"/>
          </a:xfrm>
          <a:prstGeom prst="roundRect">
            <a:avLst>
              <a:gd name="adj" fmla="val 1644"/>
            </a:avLst>
          </a:prstGeom>
          <a:solidFill>
            <a:srgbClr val="F8FAFC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08576" y="1783080"/>
            <a:ext cx="297180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Core Kinematic Streams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Calibrated Accel &amp; Gyro: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Raw 3-axis acceleration (m/s²) capturing chassis vibration and road surface roughness.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3-axis angular rotation rate (rad/s) capturing yaw rate and roll dynamics.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Linear Acceleration: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Earth gravity vector (9.81 m/s²) mathematically removed via onboard Kalman fusion.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Isolates true longitudinal braking/acceleration and lateral cornering forces.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Game Rotation Vector: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6-DOF orientation quaternion (x, y, z, w).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Completely immune to vehicle electromagnetic interference (avoids noisy magnetometers).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19872" y="1600200"/>
            <a:ext cx="3337560" cy="4709160"/>
          </a:xfrm>
          <a:prstGeom prst="roundRect">
            <a:avLst>
              <a:gd name="adj" fmla="val 1644"/>
            </a:avLst>
          </a:prstGeom>
          <a:solidFill>
            <a:srgbClr val="F8FAFC"/>
          </a:solidFill>
          <a:ln w="15240">
            <a:solidFill>
              <a:srgbClr val="1580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2752" y="1783080"/>
            <a:ext cx="297180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HUD &amp; Jitter Profiler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Live Metrics Bar in Cockpit: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Displays instantaneous sampling rate (Hz), sample count, and orientation status in real time.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Continuous Jitter Profiler: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Monitors inter-frame arrival delta (Δt). Automatically flags and logs any jitter anomaly exceeding &gt;2.0 ms.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Session CSV Logging: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All 9 DOF recorded to imu_frames.csv with nanosecond monotonic timestamps.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Downstream MCAP Ingestion: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Directly mapped to foxglove.Imu and geometry_msgs.Transform in PC pipeline.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 TOOLCHAIN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2179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Zero-Dependency Local Web Dashboard &amp; ADB Automation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 test-session management, live telemetry gauges, and 1-click execution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9811512" y="41148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11512" y="4114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ROADSENSE • WEEK 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89888"/>
            <a:ext cx="1072865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0" y="6492240"/>
            <a:ext cx="1584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6 of 11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64922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• BAJAJ AUTO LTD. • ADVANCED PERCEPTION &amp; TELEMETRY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1600200"/>
            <a:ext cx="5166360" cy="4709160"/>
          </a:xfrm>
          <a:prstGeom prst="roundRect">
            <a:avLst>
              <a:gd name="adj" fmla="val 1165"/>
            </a:avLst>
          </a:prstGeom>
          <a:solidFill>
            <a:srgbClr val="F8FAFC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83080"/>
            <a:ext cx="480060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Zero-Dependency Local Web Server &amp; Automation Engine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Zero External Python Packages: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Built exclusively on Python 3 standard library (http.server.ThreadingHTTPServer).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Runs instantly out-of-the-box on Windows/Linux without pip dependency conflicts.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Port 8088 Service Architecture: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Accessible at http://localhost:8088 across local browser sessions.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Robust REST API endpoints (/api/status, /api/sessions, /api/run, /api/stop).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Server-Sent Events (SSE) Live Streaming: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Endpoint: /api/stream delivers real-time execution progress directly to browser.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Eliminates aggressive client polling loops; streams byte-level transfer progress.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Autonomous ADB Device Health Poller: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Continuous background health checks tracking device connection, battery %, battery temperature, and available phone storage space.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91072" y="1600200"/>
            <a:ext cx="5166360" cy="1325880"/>
          </a:xfrm>
          <a:prstGeom prst="roundRect">
            <a:avLst>
              <a:gd name="adj" fmla="val 4138"/>
            </a:avLst>
          </a:prstGeom>
          <a:solidFill>
            <a:srgbClr val="0F172A"/>
          </a:solidFill>
          <a:ln w="15240">
            <a:solidFill>
              <a:srgbClr val="0284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173736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RoadSense Telemetry &amp; Script Hub  •  http://127.0.0.1:8088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73952" y="2039112"/>
            <a:ext cx="2286000" cy="329184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524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65392" y="211226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ADB STATUS: Connected (M21)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897112" y="2039112"/>
            <a:ext cx="2286000" cy="329184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524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88552" y="211226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PHONE BATTERY: 55% • 36.2°C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473952" y="2423160"/>
            <a:ext cx="2286000" cy="329184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524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65392" y="249631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PHONE STORAGE: 42.8 GB Free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897112" y="2423160"/>
            <a:ext cx="2286000" cy="329184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524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88552" y="249631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85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 GPU: NVENC Active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291072" y="3108960"/>
            <a:ext cx="5166360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19050">
            <a:solidFill>
              <a:srgbClr val="1D4ED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473952" y="338328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WEB DASHBOARD VISUAL SHOWCASE ]
</a:t>
            </a:r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RoadSense Web Cockpit (http://localhost:8088)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browser cockpit interface demonstrating: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1-Click ADB log extraction, verification &amp; MCAP compilation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Real-time SSE progress streaming with transfer bitrates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Session inventory table with sensor health indicators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1-Click Foxglove desktop player launcher button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2179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High-Throughput Foxglove MCAP Pipeline (&gt;11,500 FPS)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Mathematical coordinate alignment eliminating GPU transcoding overhead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9811512" y="41148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11512" y="4114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ROADSENSE • WEEK 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89888"/>
            <a:ext cx="1072865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0" y="6492240"/>
            <a:ext cx="1584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7 of 11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64922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• BAJAJ AUTO LTD. • ADVANCED PERCEPTION &amp; TELEMETRY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1600200"/>
            <a:ext cx="5166360" cy="1874520"/>
          </a:xfrm>
          <a:prstGeom prst="roundRect">
            <a:avLst>
              <a:gd name="adj" fmla="val 2927"/>
            </a:avLst>
          </a:prstGeom>
          <a:solidFill>
            <a:srgbClr val="F8FAFC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37360"/>
            <a:ext cx="4800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Zero-Cost Mathematical /tf Frame Roll Alignment
</a:t>
            </a:r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 Hardware Orientation Dilemma: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smartphones mounted in landscape record H.264 video with an internal 180° rotation matrix. Rendering this upright in 3D space previously required full video re-encoding.
</a:t>
            </a:r>
            <a:pPr indent="0" marL="0">
              <a:buNone/>
            </a:pPr>
            <a:r>
              <a:rPr lang="en-US" sz="9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Zero-Cost Bitstream Demuxing (&gt;11,500 FPS):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session_to_mcap.py inspects the MP4 tkhd matrix in O(1) time and folds 180° into the camera_optical /tf frame roll:
</a:t>
            </a:r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tf_roll = 180.0°   |   tf_pitch = -mounting_pitch   |   tf_yaw = -mounting_yaw
</a:t>
            </a:r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Embedded Layout: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Auto-embeds RoadSense_Cockpit_Layout.json for instant 3D visualization.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611880"/>
          <a:ext cx="51663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60120"/>
                <a:gridCol w="868680"/>
                <a:gridCol w="960120"/>
                <a:gridCol w="960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Conversion Mode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Processing Speed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1-Min Video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GPU Load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Bitstream Quality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</a:rPr>
                        <a:t>Zero-Cost Demux (Default)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</a:rPr>
                        <a:t>&gt;11,500 FPS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</a:rPr>
                        <a:t>~3.4 seconds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</a:rPr>
                        <a:t>0% GPU (Low CPU)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</a:rPr>
                        <a:t>100% Bit-Lossless Copy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D4ED8"/>
                          </a:solidFill>
                        </a:rPr>
                        <a:t>NVENC Transcode (--flip-video)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D4ED8"/>
                          </a:solidFill>
                        </a:rPr>
                        <a:t>~650 FPS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D4ED8"/>
                          </a:solidFill>
                        </a:rPr>
                        <a:t>~32 seconds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</a:rPr>
                        <a:t>NVENC Dedicated Block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</a:rPr>
                        <a:t>High-Bitrate (GOP 30 / IDR)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CPU Software Transcode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~85 FPS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~240 seconds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100% Multi-Core CPU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libx264 profile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731520" y="5486400"/>
            <a:ext cx="5166360" cy="822960"/>
          </a:xfrm>
          <a:prstGeom prst="roundRect">
            <a:avLst>
              <a:gd name="adj" fmla="val 6667"/>
            </a:avLst>
          </a:prstGeom>
          <a:solidFill>
            <a:srgbClr val="EFF6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553212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MULTIPLIER: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Zero-cost demuxing delivers a 9.4x speedup over NVENC and 70x over CPU encoding, converting 1-hour sessions in under 3.5 minutes on standard laptops.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291072" y="1600200"/>
            <a:ext cx="5166360" cy="4709160"/>
          </a:xfrm>
          <a:prstGeom prst="roundRect">
            <a:avLst>
              <a:gd name="adj" fmla="val 1165"/>
            </a:avLst>
          </a:prstGeom>
          <a:solidFill>
            <a:srgbClr val="F1F5F9"/>
          </a:solidFill>
          <a:ln w="19050">
            <a:solidFill>
              <a:srgbClr val="1D4ED8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6473952" y="1874520"/>
            <a:ext cx="480060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FOXGLOVE 3D PERCEPTION SHOWCASE ]
</a:t>
            </a:r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Foxglove Studio 3D Perception Cockpit
</a:t>
            </a:r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Embedded RoadSense_Cockpit_Layout.json: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Upright 1080p camera feed with /tf optical roll alignment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3D TI mmWave radar point cloud &amp; Doppler velocity vectors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Persistent target tracks with velocity vectors &amp; bounding boxes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Monotonic timeline scrubber with synchronized multi-sensor playback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HARDENING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2179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 Analysis: Bugs #11 Through #15 Resolved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Overcoming hardware quirks, codec bottlenecks, and scene-graph memory leaks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9811512" y="41148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11512" y="4114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ROADSENSE • WEEK 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89888"/>
            <a:ext cx="1072865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0" y="6492240"/>
            <a:ext cx="1584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8 of 11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64922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• BAJAJ AUTO LTD. • ADVANCED PERCEPTION &amp; TELEMETRY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1600200"/>
            <a:ext cx="5166360" cy="2240280"/>
          </a:xfrm>
          <a:prstGeom prst="roundRect">
            <a:avLst>
              <a:gd name="adj" fmla="val 2449"/>
            </a:avLst>
          </a:prstGeom>
          <a:solidFill>
            <a:srgbClr val="F8FAFC"/>
          </a:solidFill>
          <a:ln w="15240">
            <a:solidFill>
              <a:srgbClr val="BE12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37360"/>
            <a:ext cx="4800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E12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Bug #11: 28-Byte Stride Aliasing in Radar Parser
</a:t>
            </a:r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Symptom: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Intermittent parser desynchronization and corrupted point coordinates during dense mmWave clusters.
</a:t>
            </a:r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Root Cause: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 mmWave AWR1843BOOST TLV point struct assumed 32-byte alignment, but firmware outputted packed 28-byte structures for side-info descriptors.
</a:t>
            </a:r>
            <a:pPr indent="0" marL="0">
              <a:buNone/>
            </a:pPr>
            <a:r>
              <a:rPr lang="en-US" sz="9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Permanent Fix: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Implemented dynamic TLV length validation and strict 28/32-byte struct stride offsets; verified zero desync across &gt;100,000 continuous frames.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91072" y="1600200"/>
            <a:ext cx="5166360" cy="2240280"/>
          </a:xfrm>
          <a:prstGeom prst="roundRect">
            <a:avLst>
              <a:gd name="adj" fmla="val 2449"/>
            </a:avLst>
          </a:prstGeom>
          <a:solidFill>
            <a:srgbClr val="F8FAFC"/>
          </a:solidFill>
          <a:ln w="15240">
            <a:solidFill>
              <a:srgbClr val="BE12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1737360"/>
            <a:ext cx="4800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E12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Bug #12: Exynos Dual-Stream HAL Stalling on AUX Camera
</a:t>
            </a:r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Symptom: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Camera2 HAL pipeline deadlock and ANR crashes when activating dual analysis streams on Samsung Exynos chipsets.
</a:t>
            </a:r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Root Cause: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Exynos hardware ISP enforces strict concurrent surface output limits, starving ImageReader buffers.
</a:t>
            </a:r>
            <a:pPr indent="0" marL="0">
              <a:buNone/>
            </a:pPr>
            <a:r>
              <a:rPr lang="en-US" sz="9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Permanent Fix: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 AE samples downsampled 32x24 bitmaps directly from active TextureView on Dispatchers.Default; zero extra HAL streams allocated.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520" y="4069080"/>
            <a:ext cx="5166360" cy="2240280"/>
          </a:xfrm>
          <a:prstGeom prst="roundRect">
            <a:avLst>
              <a:gd name="adj" fmla="val 2449"/>
            </a:avLst>
          </a:prstGeom>
          <a:solidFill>
            <a:srgbClr val="F8FAFC"/>
          </a:solidFill>
          <a:ln w="15240">
            <a:solidFill>
              <a:srgbClr val="BE12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206240"/>
            <a:ext cx="4800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E12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Bug #13: Foxglove Scene-Graph Ghost Tracks
</a:t>
            </a:r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Symptom: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 radar target bounding boxes and tracks persisted indefinitely on the Foxglove 3D canvas, creating clutter.
</a:t>
            </a:r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Root Cause: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Dynamic entity IDs generated per frame prevented Foxglove's scene graph from identifying track updates as replacements.
</a:t>
            </a:r>
            <a:pPr indent="0" marL="0">
              <a:buNone/>
            </a:pPr>
            <a:r>
              <a:rPr lang="en-US" sz="9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Permanent Fix: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Standardized on static entity ID 'radar_tracks' in foxglove.SceneUpdate, atomically replacing target states per frame.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91072" y="4069080"/>
            <a:ext cx="5166360" cy="2240280"/>
          </a:xfrm>
          <a:prstGeom prst="roundRect">
            <a:avLst>
              <a:gd name="adj" fmla="val 2449"/>
            </a:avLst>
          </a:prstGeom>
          <a:solidFill>
            <a:srgbClr val="F8FAFC"/>
          </a:solidFill>
          <a:ln w="15240">
            <a:solidFill>
              <a:srgbClr val="BE12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73952" y="4206240"/>
            <a:ext cx="4800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E12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Bugs #14 &amp; #15: Video Seek Freeze &amp; Optical /tf Roll
</a:t>
            </a:r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Symptom (Bug #14):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Seeking the Foxglove timeline on long recordings caused video playback to freeze indefinitely.
</a:t>
            </a:r>
            <a:pPr indent="0" marL="0">
              <a:buNone/>
            </a:pPr>
            <a:r>
              <a:rPr lang="en-US" sz="9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Permanent Fix #14: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Enforced strict 1-sec closed GOPs (-g 30, -forced-idr 1) and in-band SPS/PPS headers; seeking is instantaneous.
</a:t>
            </a:r>
            <a:pPr indent="0" marL="0">
              <a:buNone/>
            </a:pPr>
            <a:r>
              <a:rPr lang="en-US" sz="9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Permanent Fix #15: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Auto-detected MP4 180° rotation folded into camera_optical /tf roll; video and 3D radar clouds render 100% upright.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ENGINEERING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2179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Quantitative Benchmarks &amp; Automated Test Coverage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Subsystem throughput, latency, memory consumption, and unit test invariants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9811512" y="41148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11512" y="4114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ROADSENSE • WEEK 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89888"/>
            <a:ext cx="1072865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0" y="6492240"/>
            <a:ext cx="1584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9 of 11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64922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• BAJAJ AUTO LTD. • ADVANCED PERCEPTION &amp; TELEMETRY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00200"/>
          <a:ext cx="1072865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2103120"/>
                <a:gridCol w="1828800"/>
                <a:gridCol w="185897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Subsystem / Pipeline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Target Freq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Bandwidth / Data Rate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Latency / Jitter Limit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Memory / CPU Profile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Verification Status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D4ED8"/>
                          </a:solidFill>
                        </a:rPr>
                        <a:t>TI mmWave Radar (UART)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</a:rPr>
                        <a:t>20.0 Hz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3,125,000 baud (3.125 Mbps)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&lt; 1.2 ms buffer latency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64KB ring buffer / &lt;4% CPU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</a:rPr>
                        <a:t>100% Pass (0 Drops)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284C7"/>
                          </a:solidFill>
                        </a:rPr>
                        <a:t>Camera2 Video Engine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</a:rPr>
                        <a:t>30.0 FPS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1080p H.264 (~20 Mbps)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&lt; 15 ms frame display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Hardware MediaCodec / &lt;8% CPU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</a:rPr>
                        <a:t>100% Pass (Road AE)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E22CE"/>
                          </a:solidFill>
                        </a:rPr>
                        <a:t>LSM6DSL Kinematics (IMU)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</a:rPr>
                        <a:t>100.0 Hz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3 streams (9 DOF + Quat)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&lt; 1.8 ms jitter (σ = 0.4ms)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Dedicated Thread / &lt;1% CPU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</a:rPr>
                        <a:t>100% Pass (Sub-2ms)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</a:rPr>
                        <a:t>CANedge2 Ingestion Engine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</a:rPr>
                        <a:t>1-min split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Dual CAN/CAN-FD (500k/2M)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1.5s backoff cooldown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2-folder FIFO pool staging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</a:rPr>
                        <a:t>100% Pass (Bug #10 fixed)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338CA"/>
                          </a:solidFill>
                        </a:rPr>
                        <a:t>MCAP Container Toolchain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</a:rPr>
                        <a:t>&gt;11.5k FPS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Lossless Protobuf Bitstream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~3.4s conversion per min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0% GPU / Low CPU Demux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</a:rPr>
                        <a:t>100% Pass (Foxglove)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</a:rPr>
                        <a:t>Automated JVM Unit Tests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</a:rPr>
                        <a:t>CI Pipeline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24 Executed Unit Tests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0 Failures / 0 Regressions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Gradle JBR 17 Environment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</a:rPr>
                        <a:t>24/24 Tests Passing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31520" y="5029200"/>
            <a:ext cx="333756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51206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DROPPED FRAMES
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20.0 Hz Radar / 30 FPS Video
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Rigorous ring buffering and MediaCodec HAL isolation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425696" y="5029200"/>
            <a:ext cx="333756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5240">
            <a:solidFill>
              <a:srgbClr val="7E22C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62856" y="51206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22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SUB-2MS IMU JITTER
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Hz Continuous
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Monotonic hardware timestamps synchronized across sensors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119872" y="5029200"/>
            <a:ext cx="333756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5240">
            <a:solidFill>
              <a:srgbClr val="1580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57032" y="51206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GRADLE BUILD
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24/24 JVM Tests Clean
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testDebugUnitTest across parser and projection modules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DIRECTION • PHASE 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2179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ML Validation &amp; Multi-Modal Sensor Fusion Engine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Correlating camera ground truth with radar point clouds to train superior perception models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9811512" y="41148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11512" y="4114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ROADSENSE • WEEK 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89888"/>
            <a:ext cx="1072865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0" y="6492240"/>
            <a:ext cx="1584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10 of 11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64922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• BAJAJ AUTO LTD. • ADVANCED PERCEPTION &amp; TELEMETRY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1600200"/>
            <a:ext cx="3337560" cy="4709160"/>
          </a:xfrm>
          <a:prstGeom prst="roundRect">
            <a:avLst>
              <a:gd name="adj" fmla="val 1644"/>
            </a:avLst>
          </a:prstGeom>
          <a:solidFill>
            <a:srgbClr val="F8FAFC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37360"/>
            <a:ext cx="297180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Pillar 1: Optical Ground Truth
</a:t>
            </a:r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Vision-to-3D Road Inversion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Dense Semantic Detection: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YOLOv8x/v11 detects dynamic vehicles (cars, motorcycles, auto-rickshaws, pedestrians) + road contact patches.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Road Boundary Segmentation: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Segments drivable corridor, curbs, guardrails, and roadside clutter (signposts, trees, barriers).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Inverse Pinhole Raycasting: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Projects bounding box road contacts onto ground plane (Z_road = 0) in closed form, calculating exact metric 3D positions (Xc, Yc, Zc).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Replaces ₹35L RTK-DGPS: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Zero incremental hardware cost; establishes ground truth for all surrounding traffic in uncontrolled public driving.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Output: vision_gt.json: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Microsecond synchronized 3D bounding boxes latched to session_timeline.csv.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25696" y="1600200"/>
            <a:ext cx="3337560" cy="4709160"/>
          </a:xfrm>
          <a:prstGeom prst="roundRect">
            <a:avLst>
              <a:gd name="adj" fmla="val 1644"/>
            </a:avLst>
          </a:prstGeom>
          <a:solidFill>
            <a:srgbClr val="F8FAFC"/>
          </a:solidFill>
          <a:ln w="15240">
            <a:solidFill>
              <a:srgbClr val="7E22C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08576" y="1737360"/>
            <a:ext cx="297180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E22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Pillar 2: Point-Cloud Correlation
</a:t>
            </a:r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Clutter vs. Target Discrepancy Mining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6-DOF Spatial Alignment: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Uses calibrated [R|T] and K to project 3.125M radar point clouds and EKF tracks into camera pixel space.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Noise vs. Vehicle Discrimination: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Correlates radar returns with optical objects to determine if reflections are genuine vehicles, multipath ghosts, or roadside clutter.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Self-Supervised Disagreement Rules: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• Rule 1 (Phantom Ghost): Radar target present &amp; Camera void (multipath ground bounce under trucks/plates).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• Rule 2 (Radar Blindness): Camera target present &amp; Radar void (low-RCS plastic scooters, pedestrians).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Human-in-the-Loop Active Learning: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Extracts automated 5-second video triage clips (.mp4) for 1-click human verification of discrepant edge cases.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19872" y="1600200"/>
            <a:ext cx="3337560" cy="4709160"/>
          </a:xfrm>
          <a:prstGeom prst="roundRect">
            <a:avLst>
              <a:gd name="adj" fmla="val 1644"/>
            </a:avLst>
          </a:prstGeom>
          <a:solidFill>
            <a:srgbClr val="F8FAFC"/>
          </a:solidFill>
          <a:ln w="15240">
            <a:solidFill>
              <a:srgbClr val="1580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2752" y="1737360"/>
            <a:ext cx="297180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Pillar 3: Fused Multimodal Model
</a:t>
            </a:r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Surpassing Camera-Only Limits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Cross-Modal Sensor Synergy: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Trains a multimodal network fusing radar Doppler velocity and metric depth with camera high-resolution visual semantics.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Surpasses Camera-Only Baseline: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• Maintains tracking during heavy monsoon rain, thick fog, direct sun glare, and pitch darkness.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• Resolves camera long-range pitch errors (±18m error at &gt;60m resolved by direct radar range).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Automated Reference Laboratory: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The trained model serves as the automated ground truth validator, eliminating hundreds of manual video review hours.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CLEAR MOT &amp; ISO 15623 Benchmarking: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Automated calculation of MOTA, MOTP, IDF1, and active safety pass/fail compliance scorecards.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HANDOVER &amp;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2179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Handover: Phases 1 &amp; 2 Complete, Phase 3 Launch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Consolidating on-device perception breakthroughs and launching the validation pipeline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9811512" y="41148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11512" y="4114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ROADSENSE • WEEK 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89888"/>
            <a:ext cx="1072865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0" y="6492240"/>
            <a:ext cx="1584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11 of 11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64922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• BAJAJ AUTO LTD. • ADVANCED PERCEPTION &amp; TELEMETRY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1600200"/>
            <a:ext cx="5166360" cy="4709160"/>
          </a:xfrm>
          <a:prstGeom prst="roundRect">
            <a:avLst>
              <a:gd name="adj" fmla="val 1165"/>
            </a:avLst>
          </a:prstGeom>
          <a:solidFill>
            <a:srgbClr val="F8FAFC"/>
          </a:solidFill>
          <a:ln w="1524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37360"/>
            <a:ext cx="480060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2 Deliverables: 100% Complete
</a:t>
            </a:r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On-Device Perception, Kinematics &amp; Toolchain Foundation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Phase 1: 6-DOF Spatial Calibration Complete (✅):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Full [R|T] extrinsics and Camera2 K intrinsics operational.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Reverse Touch Solver (O(1)) snaps pitch/yaw in &lt;60 seconds without calibration rigs.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Phase 2: Live Viewfinder Overlays Complete (✅):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RViz-inspired hybrid radar lollipops with 12-segment road contact footprints and vertical stems.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Painter's algorithm depth-sorting (sortByDescending) &amp; staggered range rings (10m–120m).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100 Hz LSM6DSL Vehicle Kinematics (✅):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Gravity-free linear acceleration &amp; magnetic-immune 6-DOF orientation with sub-2ms jitter.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High-Throughput Desktop Toolchain (✅):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Zero-dependency web dashboard (:8088) with real-time SSE progress streaming.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Zero-cost MCAP demuxing at &gt;11,500 FPS with embedded RoadSense_Cockpit_Layout.json.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Production Engineering Hardening (✅):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Bugs #11 to #15 diagnosed and permanently eliminated; 24/24 JVM unit tests passing clean.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91072" y="1600200"/>
            <a:ext cx="5166360" cy="4709160"/>
          </a:xfrm>
          <a:prstGeom prst="roundRect">
            <a:avLst>
              <a:gd name="adj" fmla="val 1165"/>
            </a:avLst>
          </a:prstGeom>
          <a:solidFill>
            <a:srgbClr val="F8FAFC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1737360"/>
            <a:ext cx="480060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3 Sprint Action Plan
</a:t>
            </a:r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ML Validation &amp; Dataset Engine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Offline Optical 3D Raycaster Engine (vision_gt.json):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Deploy YOLOv8x/v11 on recorded drive sessions to extract 2D vehicle bounding boxes and road plane contact patches (Z_road = 0).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Radar Point-Cloud &amp; Clutter Correlator: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Correlate radar reflections against optical objects to separate valid vehicle tracks from noise bursts and roadside clutter.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Autonomous Discrepancy Mining Pipeline: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Implement Rules 1–3 to automatically flag phantom radar ghosts and low-RCS blindness into 5-second video triage clips.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Active Learning Web Triage Interface: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Stand up a 1-click review module on the local Web Dashboard (localhost:8088) for rapid human verification of mined edge cases.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Train Multimodal Benchmark Fusion Model: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• Train the fused radar-vision network to automate fleet validation and generate automated CLEAR MOT scorecards.
</a:t>
            </a:r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&amp; Technical Discussion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11</Slides>
	<Notes>11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11</vt:i4></vt:variant>
		</vt:vector>
	</HeadingPairs>
	<TitlesOfParts>
		<vt:vector size="14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<vt:lpstr>Slide 11</vt:lpstr>
		</vt:vector>
	</TitlesOfParts>
	<Company>Bajaj Auto Ltd. - Advanced Perception & Telemetry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RoadSense: Week 2 Progress — Spatial Fusion, 100 Hz Kinematics &amp; MCAP Perception Cockpit</dc:title>
  <dc:subject>PptxGenJS Presentation</dc:subject>
  <dc:creator>RoadSense Core Engineering Team</dc:creator>
  <cp:lastModifiedBy>RoadSense Core Engineering Team</cp:lastModifiedBy>
  <cp:revision>1</cp:revision>
  <dcterms:created xsi:type="dcterms:W3CDTF">2026-10-01T09:20:27Z</dcterms:created>
  <dcterms:modified xsi:type="dcterms:W3CDTF">2026-10-01T09:20:27Z</dcterms:modified>
</cp:coreProperties>
</file>