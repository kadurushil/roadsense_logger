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80160"/>
            <a:ext cx="109728" cy="42062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1560" y="1280160"/>
            <a:ext cx="2560320" cy="329184"/>
          </a:xfrm>
          <a:prstGeom prst="roundRect">
            <a:avLst>
              <a:gd name="adj" fmla="val 1388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" y="128016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SPRINT 2 TECHNICAL HANDOVER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1560" y="178308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RoadSense: Week 2 Progress
</a:t>
            </a:r>
            <a:pPr indent="0" marL="0">
              <a:buNone/>
            </a:pPr>
            <a:r>
              <a:rPr lang="en-US" sz="1600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Spatial Fusion, 100 Hz Kinematics &amp; High-Throughput MCAP Perception Cockpit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51560" y="3108960"/>
            <a:ext cx="10408615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3337560"/>
            <a:ext cx="3310128" cy="2148840"/>
          </a:xfrm>
          <a:prstGeom prst="roundRect">
            <a:avLst>
              <a:gd name="adj" fmla="val 2553"/>
            </a:avLst>
          </a:prstGeom>
          <a:solidFill>
            <a:srgbClr val="F0F9FF"/>
          </a:solidFill>
          <a:ln w="15240">
            <a:solidFill>
              <a:srgbClr val="1D4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3474720"/>
            <a:ext cx="294436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PERCEPTION &amp; CALIBRATION
</a:t>
            </a:r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6-DOF Spatial Fusion &amp; RViz HUD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Closed-form O(1) Reverse Touch Solver, pinhole intrinsics K, hybrid radar lollipops with 12-segment road footprints &amp; perspective range rings.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99432" y="3337560"/>
            <a:ext cx="3310128" cy="2148840"/>
          </a:xfrm>
          <a:prstGeom prst="roundRect">
            <a:avLst>
              <a:gd name="adj" fmla="val 2553"/>
            </a:avLst>
          </a:prstGeom>
          <a:solidFill>
            <a:srgbClr val="FAF5FF"/>
          </a:solidFill>
          <a:ln w="15240">
            <a:solidFill>
              <a:srgbClr val="7E22C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82312" y="3474720"/>
            <a:ext cx="294436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7E22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VEHICLE DYNAMICS
</a:t>
            </a:r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 Hz LSM6DSL Kinematics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Sub-2ms jitter tracking, gravity-removed linear acceleration, magnetic-immune 6-DOF game rotation vectors, and dedicated thread acquisition.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147304" y="3337560"/>
            <a:ext cx="3310128" cy="2148840"/>
          </a:xfrm>
          <a:prstGeom prst="roundRect">
            <a:avLst>
              <a:gd name="adj" fmla="val 2553"/>
            </a:avLst>
          </a:prstGeom>
          <a:solidFill>
            <a:srgbClr val="F0FDF4"/>
          </a:solidFill>
          <a:ln w="1524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30184" y="3474720"/>
            <a:ext cx="294436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TOOLCHAIN &amp; PERFORMANCE
</a:t>
            </a:r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MCAP Pipeline &amp; Web Dashboard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Zero-cost H.264 bitstream demuxing at &gt;11,500 FPS (~3.4s) with zero GPU load, local SSE web server at :8088, and root cause post-mortems for Bugs #11-#15.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051560" y="5852160"/>
            <a:ext cx="104086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Date: September 29, 2026   |   Target: Android 14 (API 34)   |   Test Invariants: 100% JVM Tests Passing (24/24)   |   Author: RoadSense Engineering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OVERVIEW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2 Sprint Deliverables: From Logger to Perception Platform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Consolidating on-device calibration, high-rate kinematics, and desktop analytics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811512" y="411480"/>
            <a:ext cx="1645920" cy="329184"/>
          </a:xfrm>
          <a:prstGeom prst="roundRect">
            <a:avLst>
              <a:gd name="adj" fmla="val 1388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11512" y="41148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ROADSENSE • WEEK 2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31520" y="1389888"/>
            <a:ext cx="10728655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0" y="6492240"/>
            <a:ext cx="15846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 of 11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31520" y="649224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• BAJAJ AUTO LTD. • ADVANCED PERCEPTION &amp; TELEMETRY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31520" y="1600200"/>
            <a:ext cx="3337560" cy="3931920"/>
          </a:xfrm>
          <a:prstGeom prst="roundRect">
            <a:avLst>
              <a:gd name="adj" fmla="val 1644"/>
            </a:avLst>
          </a:prstGeom>
          <a:solidFill>
            <a:srgbClr val="F8FAFC"/>
          </a:solidFill>
          <a:ln w="1524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783080"/>
            <a:ext cx="2971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On-Device Spatial Fusion
</a:t>
            </a:r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6-DOF Rigid Transform ([R|T]):
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Lateral X, Setback Y, Height Z, Pitch θ, Yaw ψ, Roll φ. Persistent JSON profiles.
</a:t>
            </a:r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Reverse Touch Solver (O(1)):
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Instant calibration snap from single viewfinder tap without physical laser rigs.
</a:t>
            </a:r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RViz-Inspired Radar Lollipops:
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12-segment road footprints, vertical projection stems, and Painter's depth sorting.
</a:t>
            </a:r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Perspective Range Rings:
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Concentric ground arcs at 10m, 30m, 60m, 120m clamped to camera horizontal FOV.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425696" y="1600200"/>
            <a:ext cx="3337560" cy="3931920"/>
          </a:xfrm>
          <a:prstGeom prst="roundRect">
            <a:avLst>
              <a:gd name="adj" fmla="val 1644"/>
            </a:avLst>
          </a:prstGeom>
          <a:solidFill>
            <a:srgbClr val="F8FAFC"/>
          </a:solidFill>
          <a:ln w="15240">
            <a:solidFill>
              <a:srgbClr val="7E22C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08576" y="1783080"/>
            <a:ext cx="2971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E22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100 Hz Vehicle Kinematics
</a:t>
            </a:r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 LSM6DSL 100 Hz ASIC:
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High-rate accelerometer and gyroscope acquisition via dedicated listener thread.
</a:t>
            </a:r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Gravity-Subtracted Linear Accel:
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On-device sensor fusion removing Earth gravity (9.81 m/s²) for true dynamic braking/accel.
</a:t>
            </a:r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6-DOF Game Rotation Vector:
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Magnetic-immune orientation quaternion (x,y,z,w) safe from EV inverter EMF.
</a:t>
            </a:r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Real-Time Jitter Profiler:
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Nanosecond monotonic tracking guaranteeing &lt;2ms jitter across continuous drive logs.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19872" y="1600200"/>
            <a:ext cx="3337560" cy="3931920"/>
          </a:xfrm>
          <a:prstGeom prst="roundRect">
            <a:avLst>
              <a:gd name="adj" fmla="val 1644"/>
            </a:avLst>
          </a:prstGeom>
          <a:solidFill>
            <a:srgbClr val="F8FAFC"/>
          </a:solidFill>
          <a:ln w="15240">
            <a:solidFill>
              <a:srgbClr val="1580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02752" y="1783080"/>
            <a:ext cx="2971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PC Operations &amp; MCAP Toolchain
</a:t>
            </a:r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Zero-Cost Video Demuxing (&gt;11,500 FPS):
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Demuxes H.264 bitstream directly into MCAP in ~3.4s with 0% GPU load via /tf roll fold.
</a:t>
            </a:r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Zero-Dependency Web Dashboard:
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Local Python HTTP server on port 8088 with Server-Sent Events (SSE) live progress.
</a:t>
            </a:r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Hardware NVENC Transcoder (~650 FPS):
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Enforces closed GOP 30 &amp; IDR keyframes eliminating video seek freeze bugs.
</a:t>
            </a:r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Foxglove Studio Integration:
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Auto-embeds RoadSense_Cockpit_Layout.json directly inside every single .mcap container.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5669280"/>
            <a:ext cx="10728655" cy="640080"/>
          </a:xfrm>
          <a:prstGeom prst="roundRect">
            <a:avLst>
              <a:gd name="adj" fmla="val 8571"/>
            </a:avLst>
          </a:prstGeom>
          <a:solidFill>
            <a:srgbClr val="EFF6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71500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SYSTEM HARDENING COMPLETED: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Root cause post-mortems conducted and permanently resolved for Bug #11 (28B Stride Aliasing), Bug #12 (Exynos AUX Camera ISP Limit), Bug #13 (Foxglove Ghost Tracks via Static Entity ID), Bug #14 (1-sec GOP 30 Seek Freeze), and Bug #15 (Zero-Cost 180° /tf Camera Frame Roll).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SPATIAL FUSION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60-Second In-Situ Extrinsic Calibration Engine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Solving mounting pitch and yaw in closed form (O(1)) without calibration rigs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811512" y="411480"/>
            <a:ext cx="1645920" cy="329184"/>
          </a:xfrm>
          <a:prstGeom prst="roundRect">
            <a:avLst>
              <a:gd name="adj" fmla="val 1388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11512" y="41148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ROADSENSE • WEEK 2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31520" y="1389888"/>
            <a:ext cx="10728655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0" y="6492240"/>
            <a:ext cx="15846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 of 11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31520" y="649224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• BAJAJ AUTO LTD. • ADVANCED PERCEPTION &amp; TELEMETRY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31520" y="1600200"/>
            <a:ext cx="5166360" cy="4709160"/>
          </a:xfrm>
          <a:prstGeom prst="roundRect">
            <a:avLst>
              <a:gd name="adj" fmla="val 1165"/>
            </a:avLst>
          </a:prstGeom>
          <a:solidFill>
            <a:srgbClr val="F8FAFC"/>
          </a:solidFill>
          <a:ln w="1524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783080"/>
            <a:ext cx="480060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Closed-Form Mathematical Reverse Touch Solver
</a:t>
            </a:r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6-DOF Rigid Body Transformation [ R | T ]: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Extrinsics specify 3D baseline: Lateral offset ΔX, Setback ΔY, Height ΔZ.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Rotation matrix parameterized by Pitch (θ), Yaw (ψ), and Roll (φ).
</a:t>
            </a:r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Camera Intrinsics Matrix (K):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Automatically queried from CameraCharacteristics (LENS_INTRINSIC_CALIBRATION).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Focal lengths (fx, fy) and optical principal center (cx, cy) mapped to preview.
</a:t>
            </a:r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Closed-Form Angle Recovery (O(1)):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Given a known radar target at forward range R and tap pixel (u, v):
</a:t>
            </a:r>
            <a:pPr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u_norm = (u - cx) / fx    |    v_norm = (v - cy) / fy
</a:t>
            </a:r>
            <a:pPr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pitch_solved = -atan(v_norm)    |    yaw_solved = atan(u_norm)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Solves pitch and yaw instantaneously without iterative gradient descent or non-linear optimization loops.
</a:t>
            </a:r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Single-Tap Snap Workflow: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In-situ technician taps vehicle center in viewfinder; system locks calibration in &lt;60s.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91072" y="1600200"/>
            <a:ext cx="5166360" cy="4709160"/>
          </a:xfrm>
          <a:prstGeom prst="roundRect">
            <a:avLst>
              <a:gd name="adj" fmla="val 1165"/>
            </a:avLst>
          </a:prstGeom>
          <a:solidFill>
            <a:srgbClr val="F8FAFC"/>
          </a:solidFill>
          <a:ln w="15240">
            <a:solidFill>
              <a:srgbClr val="0284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3952" y="1783080"/>
            <a:ext cx="480060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Interactive Cockpit Calibration Studio
</a:t>
            </a:r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Real-Time Fullscreen Reticle HUD: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Viewfinder displays high-contrast target reticle overlay with live coordinate readouts.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Displays live target range (m), azimuth (°), and pixel reprojection error.
</a:t>
            </a:r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Dual-Mode Manual Fine-Tuning: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Trackpad Delta Drag: Smooth finger dragging across virtual trackpad for fine analog adjustment.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Precision Nudge Bar: Discrete step buttons (±0.1° fine, ±1.0° coarse) for pitch/yaw.
</a:t>
            </a:r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Persistent JSON Calibration Profile: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Automatically saved to /sdcard/.../calibration/radar_camera_calib.json.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Reloaded across app restarts and embedded into downstream session archives.
</a:t>
            </a:r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Accidental Gesture Interlock: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Cockpit HorizontalPager userScrollEnabled = false during active calibration to prevent inadvertent tab paging while dragging reticles.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PERCEPTION VISUALIZATION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RViz-Inspired Hybrid Radar Lollipops &amp; Perspective Range Rings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Overcoming 3D-to-2D depth ambiguity with ground footprints and Painter's sorting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811512" y="411480"/>
            <a:ext cx="1645920" cy="329184"/>
          </a:xfrm>
          <a:prstGeom prst="roundRect">
            <a:avLst>
              <a:gd name="adj" fmla="val 1388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11512" y="41148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ROADSENSE • WEEK 2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31520" y="1389888"/>
            <a:ext cx="10728655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0" y="6492240"/>
            <a:ext cx="15846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 of 11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31520" y="649224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• BAJAJ AUTO LTD. • ADVANCED PERCEPTION &amp; TELEMETRY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31520" y="1600200"/>
            <a:ext cx="5166360" cy="4709160"/>
          </a:xfrm>
          <a:prstGeom prst="roundRect">
            <a:avLst>
              <a:gd name="adj" fmla="val 1165"/>
            </a:avLst>
          </a:prstGeom>
          <a:solidFill>
            <a:srgbClr val="F8FAFC"/>
          </a:solidFill>
          <a:ln w="1524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783080"/>
            <a:ext cx="480060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Depth Ambiguity &amp; Visual Architecture
</a:t>
            </a:r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The 3D-to-2D Perspective Challenge: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Standard radar point reprojection renders floating 2D dots, making it impossible for human drivers or annotators to discern vehicle ground contact.
</a:t>
            </a:r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RViz-Inspired Hybrid Lollipop Structure: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Road Footprint: 12-segment perspective ellipse projected onto the road plane (Z = 0) showing vehicle contact patch.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Vertical Stem: Translucent line rising from ground plane to physical detection height.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Centroid Sphere: Color-coded detection head showing Doppler velocity (m/s).
</a:t>
            </a:r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Painter's Algorithm Depth-Sorting:
</a:t>
            </a:r>
            <a:pPr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• Invariant: lollipops.sortByDescending { it.depthM }.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Ensures distant targets (100m) render first, and close targets (10m) render cleanly on top without foreground occlusion artifacts.
</a:t>
            </a:r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Staggered Perspective Range Rings: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Concentric ground distance arcs at 10m, 30m, 60m, 120m clamped to camera HFOV with staggered distance labels preventing visual clutter.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91072" y="1600200"/>
            <a:ext cx="5166360" cy="4709160"/>
          </a:xfrm>
          <a:prstGeom prst="roundRect">
            <a:avLst>
              <a:gd name="adj" fmla="val 1165"/>
            </a:avLst>
          </a:prstGeom>
          <a:solidFill>
            <a:srgbClr val="F1F5F9"/>
          </a:solidFill>
          <a:ln w="19050">
            <a:solidFill>
              <a:srgbClr val="1D4ED8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6473952" y="1874520"/>
            <a:ext cx="480060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COCKPIT VIEWFINDER HUD SLOT ]
</a:t>
            </a:r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ViewfinderRadarOverlay in Cockpit Studio
</a:t>
            </a:r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1080p preview demonstrating perspective radar projections:</a:t>
            </a:r>
            <a:endParaRPr lang="en-US" sz="10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12-segment road contact ellipses (Ground Z=0)</a:t>
            </a:r>
            <a:endParaRPr lang="en-US" sz="10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Vertical perspective stems connecting ground to target</a:t>
            </a:r>
            <a:endParaRPr lang="en-US" sz="10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Doppler velocity color mapping (Approach Red / Recede Green)</a:t>
            </a:r>
            <a:endParaRPr lang="en-US" sz="10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Staggered distance range rings (10m, 30m, 60m, 120m)</a:t>
            </a:r>
            <a:endParaRPr lang="en-US" sz="10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dropped frames at 20 Hz radar + 30 FPS Camera2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VEHICLE DYNAMICS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 Hz LSM6DSL IMU Integration &amp; Real-Time Jitter Profiler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Capturing vehicle chassis dynamics, pitch/roll, and magnetic-immune orientation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811512" y="411480"/>
            <a:ext cx="1645920" cy="329184"/>
          </a:xfrm>
          <a:prstGeom prst="roundRect">
            <a:avLst>
              <a:gd name="adj" fmla="val 1388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11512" y="41148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ROADSENSE • WEEK 2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31520" y="1389888"/>
            <a:ext cx="10728655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0" y="6492240"/>
            <a:ext cx="15846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5 of 11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31520" y="649224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• BAJAJ AUTO LTD. • ADVANCED PERCEPTION &amp; TELEMETRY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31520" y="1600200"/>
            <a:ext cx="3337560" cy="4709160"/>
          </a:xfrm>
          <a:prstGeom prst="roundRect">
            <a:avLst>
              <a:gd name="adj" fmla="val 1644"/>
            </a:avLst>
          </a:prstGeom>
          <a:solidFill>
            <a:srgbClr val="F8FAFC"/>
          </a:solidFill>
          <a:ln w="15240">
            <a:solidFill>
              <a:srgbClr val="7E22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783080"/>
            <a:ext cx="297180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E22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ASIC Hardware &amp; Acquisition
</a:t>
            </a:r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 LSM6DSL Sensor Hub: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Integrated 6-axis inertial measurement unit (3-axis accelerometer + 3-axis gyroscope) with ultra-low noise density.
</a:t>
            </a:r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SENSOR_DELAY_FASTEST Rate: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Operating at 100 Hz nominal acquisition frequency (~10.0 ms sampling interval).
</a:t>
            </a:r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Dedicated Listener Thread: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Isolated SensorEventListener running on a dedicated HandlerThread to prevent UI thread contention.
</a:t>
            </a:r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Monotonic Hardware Clock: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Timestamped with SystemClock.elapsedRealtimeNanos() matching Camera2 HAL and TI mmWave radar streams.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425696" y="1600200"/>
            <a:ext cx="3337560" cy="4709160"/>
          </a:xfrm>
          <a:prstGeom prst="roundRect">
            <a:avLst>
              <a:gd name="adj" fmla="val 1644"/>
            </a:avLst>
          </a:prstGeom>
          <a:solidFill>
            <a:srgbClr val="F8FAFC"/>
          </a:solidFill>
          <a:ln w="1524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08576" y="1783080"/>
            <a:ext cx="297180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Core Kinematic Streams
</a:t>
            </a:r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Calibrated Accel &amp; Gyro: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Raw 3-axis acceleration (m/s²) capturing chassis vibration and road surface roughness.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3-axis angular rotation rate (rad/s) capturing yaw rate and roll dynamics.
</a:t>
            </a:r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Linear Acceleration: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Earth gravity vector (9.81 m/s²) mathematically removed via onboard Kalman fusion.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Isolates true longitudinal braking/acceleration and lateral cornering forces.
</a:t>
            </a:r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Game Rotation Vector: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6-DOF orientation quaternion (x, y, z, w).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Completely immune to vehicle electromagnetic interference (avoids noisy magnetometers).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19872" y="1600200"/>
            <a:ext cx="3337560" cy="4709160"/>
          </a:xfrm>
          <a:prstGeom prst="roundRect">
            <a:avLst>
              <a:gd name="adj" fmla="val 1644"/>
            </a:avLst>
          </a:prstGeom>
          <a:solidFill>
            <a:srgbClr val="F8FAFC"/>
          </a:solidFill>
          <a:ln w="15240">
            <a:solidFill>
              <a:srgbClr val="1580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02752" y="1783080"/>
            <a:ext cx="297180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HUD &amp; Jitter Profiler
</a:t>
            </a:r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Live Metrics Bar in Cockpit: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Displays instantaneous sampling rate (Hz), sample count, and orientation status in real time.
</a:t>
            </a:r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Continuous Jitter Profiler: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Monitors inter-frame arrival delta (Δt). Automatically flags and logs any jitter anomaly exceeding &gt;2.0 ms.
</a:t>
            </a:r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Session CSV Logging: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All 9 DOF recorded to imu_frames.csv with nanosecond monotonic timestamps.
</a:t>
            </a:r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Downstream MCAP Ingestion: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Directly mapped to foxglove.Imu and geometry_msgs.Transform in PC pipeline.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DESKTOP TOOLCHAIN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Zero-Dependency Local Web Dashboard &amp; ADB Automation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 test-session management, live telemetry gauges, and 1-click execution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811512" y="411480"/>
            <a:ext cx="1645920" cy="329184"/>
          </a:xfrm>
          <a:prstGeom prst="roundRect">
            <a:avLst>
              <a:gd name="adj" fmla="val 1388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11512" y="41148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ROADSENSE • WEEK 2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31520" y="1389888"/>
            <a:ext cx="10728655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0" y="6492240"/>
            <a:ext cx="15846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6 of 11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31520" y="649224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• BAJAJ AUTO LTD. • ADVANCED PERCEPTION &amp; TELEMETRY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31520" y="1600200"/>
            <a:ext cx="5166360" cy="4709160"/>
          </a:xfrm>
          <a:prstGeom prst="roundRect">
            <a:avLst>
              <a:gd name="adj" fmla="val 1165"/>
            </a:avLst>
          </a:prstGeom>
          <a:solidFill>
            <a:srgbClr val="F8FAFC"/>
          </a:solidFill>
          <a:ln w="1524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783080"/>
            <a:ext cx="480060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Zero-Dependency Local Web Server
</a:t>
            </a:r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Zero External Python Packages: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Built exclusively on Python 3 standard library (http.server.ThreadingHTTPServer).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Runs instantly out-of-the-box on Windows/Linux without pip dependency conflicts.
</a:t>
            </a:r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Port 8088 Service Architecture: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Accessible at http://localhost:8088 across local browser sessions.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Robust REST API endpoints for sessions, devices, extraction, and playback.
</a:t>
            </a:r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Server-Sent Events (SSE) Live Streaming: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Endpoint: /api/stream delivers real-time execution progress directly to browser.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Eliminates aggressive client polling loops; streams byte-level transfer progress.
</a:t>
            </a:r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Autonomous ADB Device Health Poller: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Continuous background health checks tracking device connection, battery %, battery temperature, and available phone storage space.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91072" y="1600200"/>
            <a:ext cx="5166360" cy="4709160"/>
          </a:xfrm>
          <a:prstGeom prst="roundRect">
            <a:avLst>
              <a:gd name="adj" fmla="val 1165"/>
            </a:avLst>
          </a:prstGeom>
          <a:solidFill>
            <a:srgbClr val="F8FAFC"/>
          </a:solidFill>
          <a:ln w="15240">
            <a:solidFill>
              <a:srgbClr val="0284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3952" y="1783080"/>
            <a:ext cx="480060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Automotive Web Cockpit Features
</a:t>
            </a:r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Dark-Mode Automotive Cockpit: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High-contrast slate/cyan UI designed for test-track visibility and quick operation.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Dynamic gauges for Battery (%), Thermal State (°C), and Storage (GB free).
</a:t>
            </a:r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Session Ingestion &amp; Health Inspector: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Automatically enumerates all on-device drive sessions with sensor inventories.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1-Click extraction pulling Radar, Camera, IMU, GNSS, and CANedge2 logs.
</a:t>
            </a:r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Automated MCAP Conversion Pipeline: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Triggers session_to_mcap.py directly with user-selectable demuxing modes.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Real-time progress bar tracking video demux, point cloud serialization, and /tf.
</a:t>
            </a:r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Instant 1-Click Foxglove Launcher: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Generates direct desktop foxglove://open?ds=file URIs for instant visualization.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High-Throughput Foxglove MCAP Pipeline (&gt;11,500 FPS)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Mathematical coordinate alignment eliminating GPU transcoding overhead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811512" y="411480"/>
            <a:ext cx="1645920" cy="329184"/>
          </a:xfrm>
          <a:prstGeom prst="roundRect">
            <a:avLst>
              <a:gd name="adj" fmla="val 1388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11512" y="41148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ROADSENSE • WEEK 2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31520" y="1389888"/>
            <a:ext cx="10728655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0" y="6492240"/>
            <a:ext cx="15846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7 of 11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31520" y="649224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• BAJAJ AUTO LTD. • ADVANCED PERCEPTION &amp; TELEMETRY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31520" y="1600200"/>
            <a:ext cx="10728655" cy="1874520"/>
          </a:xfrm>
          <a:prstGeom prst="roundRect">
            <a:avLst>
              <a:gd name="adj" fmla="val 2927"/>
            </a:avLst>
          </a:prstGeom>
          <a:solidFill>
            <a:srgbClr val="F8FAFC"/>
          </a:solidFill>
          <a:ln w="1524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737360"/>
            <a:ext cx="1036289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Orientation Challenge &amp; The Zero-Cost Mathematical Breakthrough
</a:t>
            </a:r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The Hardware Orientation Dilemma: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Android smartphones mounted in landscape record H.264 video with an internal 180° rotation matrix. Previously, rendering this upright in Foxglove 3D space required full video transcoding (decoding and re-encoding every frame).
</a:t>
            </a:r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Zero-Cost Bitstream Demuxing (&gt;11,500 FPS):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Instead of modifying pixel buffers, session_to_mcap.py inspects the MP4 tkhd matrix in O(1) time and automatically folds 180° into the camera_optical /tf frame roll:
</a:t>
            </a:r>
            <a:pPr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tf_roll = 180.0°   |   tf_pitch = -mounting_pitch   |   tf_yaw = -mounting_yaw
</a:t>
            </a:r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Embedded Cockpit Layout: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.mcap file automatically embeds RoadSense_Cockpit_Layout.json as a container attachment for zero-setup 3D perception visualization.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703320"/>
          <a:ext cx="10728655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463040"/>
                <a:gridCol w="1645920"/>
                <a:gridCol w="1828800"/>
                <a:gridCol w="1767535"/>
                <a:gridCol w="1737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Conversion Mode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Processing Speed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1-Min Video Duration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GPU / Hardware Load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Image Bitstream Quality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Recommended Use Case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803D"/>
                          </a:solidFill>
                        </a:rPr>
                        <a:t>Zero-Cost Demux (Default)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803D"/>
                          </a:solidFill>
                        </a:rPr>
                        <a:t>&gt;11,500 FPS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803D"/>
                          </a:solidFill>
                        </a:rPr>
                        <a:t>~3.4 seconds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0% GPU (Minimal CPU)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100% Bit-Lossless Copy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Default high-throughput archiving 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D4ED8"/>
                          </a:solidFill>
                        </a:rPr>
                        <a:t>NVENC Transcoding (--flip-video)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D4ED8"/>
                          </a:solidFill>
                        </a:rPr>
                        <a:t>~650 FPS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D4ED8"/>
                          </a:solidFill>
                        </a:rPr>
                        <a:t>~32 seconds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Dedicated NVENC SIP block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High-Bitrate (GOP 30 / IDR)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3rd-party viewers lacking /tf roll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CPU Software Transcoding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~85 FPS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~240 seconds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100% Multi-Core CPU Load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Standard libx264 profile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Fallback for non-NVIDIA test machines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731520" y="5532120"/>
            <a:ext cx="10728655" cy="6858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5240">
            <a:solidFill>
              <a:srgbClr val="BFDBF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4400" y="5577840"/>
            <a:ext cx="103628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ARCHITECTURAL RESULT: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Zero-cost demuxing delivers a 9.4x speedup over hardware NVENC and a 70x speedup over CPU transcoding, allowing field engineers to convert 1-hour multi-sensor drive runs in under 3.5 minutes on standard laptops.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HARDENING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Root Cause Analysis: Bugs #11 Through #15 Resolved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Overcoming hardware quirks, codec bottlenecks, and scene-graph memory leaks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811512" y="411480"/>
            <a:ext cx="1645920" cy="329184"/>
          </a:xfrm>
          <a:prstGeom prst="roundRect">
            <a:avLst>
              <a:gd name="adj" fmla="val 1388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11512" y="41148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ROADSENSE • WEEK 2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31520" y="1389888"/>
            <a:ext cx="10728655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0" y="6492240"/>
            <a:ext cx="15846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8 of 11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31520" y="649224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• BAJAJ AUTO LTD. • ADVANCED PERCEPTION &amp; TELEMETRY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31520" y="1600200"/>
            <a:ext cx="5166360" cy="2240280"/>
          </a:xfrm>
          <a:prstGeom prst="roundRect">
            <a:avLst>
              <a:gd name="adj" fmla="val 2449"/>
            </a:avLst>
          </a:prstGeom>
          <a:solidFill>
            <a:srgbClr val="F8FAFC"/>
          </a:solidFill>
          <a:ln w="15240">
            <a:solidFill>
              <a:srgbClr val="BE12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737360"/>
            <a:ext cx="48006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BE12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Bug #11: 28-Byte Stride Aliasing in Radar Parser
</a:t>
            </a:r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Symptom: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Intermittent parser desynchronization and corrupted point coordinates during dense mmWave clusters.
</a:t>
            </a:r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Root Cause: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 mmWave AWR1843BOOST TLV point struct assumed 32-byte alignment, but firmware outputted packed 28-byte structures for side-info descriptors.
</a:t>
            </a:r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Permanent Fix: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Implemented dynamic TLV length validation and strict 28/32-byte struct stride offsets; verified zero desync across &gt;100,000 continuous frames.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91072" y="1600200"/>
            <a:ext cx="5166360" cy="2240280"/>
          </a:xfrm>
          <a:prstGeom prst="roundRect">
            <a:avLst>
              <a:gd name="adj" fmla="val 2449"/>
            </a:avLst>
          </a:prstGeom>
          <a:solidFill>
            <a:srgbClr val="F8FAFC"/>
          </a:solidFill>
          <a:ln w="15240">
            <a:solidFill>
              <a:srgbClr val="BE12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3952" y="1737360"/>
            <a:ext cx="48006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BE12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Bug #12: Exynos Dual-Stream HAL Stalling on AUX Camera
</a:t>
            </a:r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Symptom: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Camera2 HAL pipeline deadlock and ANR crashes when activating dual analysis streams on Samsung Exynos chipsets.
</a:t>
            </a:r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Root Cause: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Exynos hardware ISP enforces strict concurrent surface output limits, starving ImageReader buffers.
</a:t>
            </a:r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Permanent Fix: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 AE samples downsampled 32x24 bitmaps directly from active TextureView on Dispatchers.Default; zero extra HAL streams allocated.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1520" y="4069080"/>
            <a:ext cx="5166360" cy="2240280"/>
          </a:xfrm>
          <a:prstGeom prst="roundRect">
            <a:avLst>
              <a:gd name="adj" fmla="val 2449"/>
            </a:avLst>
          </a:prstGeom>
          <a:solidFill>
            <a:srgbClr val="F8FAFC"/>
          </a:solidFill>
          <a:ln w="15240">
            <a:solidFill>
              <a:srgbClr val="BE12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206240"/>
            <a:ext cx="48006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BE12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Bug #13: Foxglove Scene-Graph Ghost Tracks
</a:t>
            </a:r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Symptom: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Past radar target bounding boxes and tracks persisted indefinitely on the Foxglove 3D canvas, creating clutter.
</a:t>
            </a:r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Root Cause: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Dynamic entity IDs generated per frame prevented Foxglove's scene graph from identifying track updates as replacements.
</a:t>
            </a:r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Permanent Fix: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Standardized on static entity ID 'radar_tracks' in foxglove.SceneUpdate, atomically replacing target states per frame.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91072" y="4069080"/>
            <a:ext cx="5166360" cy="2240280"/>
          </a:xfrm>
          <a:prstGeom prst="roundRect">
            <a:avLst>
              <a:gd name="adj" fmla="val 2449"/>
            </a:avLst>
          </a:prstGeom>
          <a:solidFill>
            <a:srgbClr val="F8FAFC"/>
          </a:solidFill>
          <a:ln w="15240">
            <a:solidFill>
              <a:srgbClr val="BE12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73952" y="4206240"/>
            <a:ext cx="48006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BE12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Bugs #14 &amp; #15: Video Seek Freeze &amp; Optical /tf Roll
</a:t>
            </a:r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Symptom (Bug #14):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Seeking the Foxglove timeline on long recordings caused video playback to freeze indefinitely.
</a:t>
            </a:r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Permanent Fix #14: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Enforced strict 1-sec closed GOPs (-g 30, -forced-idr 1) and in-band SPS/PPS headers; seeking is instantaneous.
</a:t>
            </a:r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Permanent Fix #15: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Auto-detected MP4 180° rotation folded into camera_optical /tf roll; video and 3D radar clouds render 100% upright.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QUALITY ENGINEERING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Quantitative Benchmarks &amp; Automated Test Coverage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Subsystem throughput, latency, memory consumption, and unit test invariants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811512" y="411480"/>
            <a:ext cx="1645920" cy="329184"/>
          </a:xfrm>
          <a:prstGeom prst="roundRect">
            <a:avLst>
              <a:gd name="adj" fmla="val 1388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11512" y="41148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ROADSENSE • WEEK 2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31520" y="1389888"/>
            <a:ext cx="10728655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0" y="6492240"/>
            <a:ext cx="15846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9 of 11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31520" y="649224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• BAJAJ AUTO LTD. • ADVANCED PERCEPTION &amp; TELEMETRY</a:t>
            </a:r>
            <a:endParaRPr lang="en-US" sz="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00200"/>
          <a:ext cx="10728655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280160"/>
                <a:gridCol w="2103120"/>
                <a:gridCol w="1828800"/>
                <a:gridCol w="1858975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Subsystem / Pipeline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Target Freq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Bandwidth / Data Rate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Latency / Jitter Limit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Memory / CPU Profile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Verification Status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D4ED8"/>
                          </a:solidFill>
                        </a:rPr>
                        <a:t>TI mmWave Radar (UART)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20.0 Hz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3,125,000 baud (3.125 Mbps)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&lt; 1.2 ms buffer latency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64KB ring buffer / &lt;4% CPU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803D"/>
                          </a:solidFill>
                        </a:rPr>
                        <a:t>100% Pass (0 Drops)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284C7"/>
                          </a:solidFill>
                        </a:rPr>
                        <a:t>Camera2 Video Engine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30.0 FPS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1080p H.264 (~20 Mbps)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&lt; 15 ms frame display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Hardware MediaCodec / &lt;8% CPU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803D"/>
                          </a:solidFill>
                        </a:rPr>
                        <a:t>100% Pass (Road AE)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7E22CE"/>
                          </a:solidFill>
                        </a:rPr>
                        <a:t>LSM6DSL Kinematics (IMU)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100.0 Hz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3 streams (9 DOF + Quat)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&lt; 1.8 ms jitter (σ = 0.4ms)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Dedicated Thread / &lt;1% CPU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803D"/>
                          </a:solidFill>
                        </a:rPr>
                        <a:t>100% Pass (Sub-2ms)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</a:rPr>
                        <a:t>CANedge2 Ingestion Engine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1-min split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Dual CAN/CAN-FD (500k/2M)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1.5s backoff cooldown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2-folder FIFO pool staging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803D"/>
                          </a:solidFill>
                        </a:rPr>
                        <a:t>100% Pass (Bug #10 fixed)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338CA"/>
                          </a:solidFill>
                        </a:rPr>
                        <a:t>MCAP Container Toolchain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&gt;11.5k FPS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Lossless Protobuf Bitstream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~3.4s conversion per min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0% GPU / Low CPU Demux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803D"/>
                          </a:solidFill>
                        </a:rPr>
                        <a:t>100% Pass (Foxglove)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803D"/>
                          </a:solidFill>
                        </a:rPr>
                        <a:t>Automated JVM Unit Tests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CI 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24 Executed Unit Tests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0 Failures / 0 Regressions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Gradle JBR 17 Environment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803D"/>
                          </a:solidFill>
                        </a:rPr>
                        <a:t>24/24 Tests Passing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731520" y="5029200"/>
            <a:ext cx="33375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5240">
            <a:solidFill>
              <a:srgbClr val="1D4E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51206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DROPPED FRAMES
</a:t>
            </a:r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20.0 Hz Radar / 30 FPS Video
</a:t>
            </a: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Rigorous ring buffering and MediaCodec HAL isolation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425696" y="5029200"/>
            <a:ext cx="33375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5240">
            <a:solidFill>
              <a:srgbClr val="7E22C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62856" y="51206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E22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SUB-2MS IMU JITTER
</a:t>
            </a:r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 Hz Continuous
</a:t>
            </a: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Monotonic hardware timestamps synchronized across sensors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8119872" y="5029200"/>
            <a:ext cx="33375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5240">
            <a:solidFill>
              <a:srgbClr val="15803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57032" y="51206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 GRADLE BUILD
</a:t>
            </a:r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24/24 JVM Tests Clean
</a:t>
            </a: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Passing testDebugUnitTest across parser and projection modules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STRATEGIC DIRECTION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Road Ahead: On-Device Edge Perception &amp; Active Safety Alerts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Transitioning from multimodal dataset logging to real-time collision warning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811512" y="411480"/>
            <a:ext cx="1645920" cy="329184"/>
          </a:xfrm>
          <a:prstGeom prst="roundRect">
            <a:avLst>
              <a:gd name="adj" fmla="val 1388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11512" y="41148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ROADSENSE • WEEK 2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31520" y="1389888"/>
            <a:ext cx="10728655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0" y="6492240"/>
            <a:ext cx="15846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10 of 11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31520" y="649224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• BAJAJ AUTO LTD. • ADVANCED PERCEPTION &amp; TELEMETRY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31520" y="1600200"/>
            <a:ext cx="3337560" cy="4709160"/>
          </a:xfrm>
          <a:prstGeom prst="roundRect">
            <a:avLst>
              <a:gd name="adj" fmla="val 1644"/>
            </a:avLst>
          </a:prstGeom>
          <a:solidFill>
            <a:srgbClr val="F8FAFC"/>
          </a:solidFill>
          <a:ln w="1524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783080"/>
            <a:ext cx="297180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Pillar 1: Edge Object Detection
</a:t>
            </a:r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Lightweight TFLite / YOLO-Nano: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Deploy quantized mobile neural network directly onto smartphone NPU / GPU delegate.
</a:t>
            </a:r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30 FPS Real-Time Inference: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Zero latency penalty on Camera2 recording pipeline; asynchronous frame sampling.
</a:t>
            </a:r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2D Bounding Box Extraction: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Detect vehicles, motorcycles, auto-rickshaws, and pedestrians in camera pixel space.
</a:t>
            </a:r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Ground Plane Snapping: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Bottom edge of 2D bounding boxes projected onto 3D road plane for spatial fusion.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425696" y="1600200"/>
            <a:ext cx="3337560" cy="4709160"/>
          </a:xfrm>
          <a:prstGeom prst="roundRect">
            <a:avLst>
              <a:gd name="adj" fmla="val 1644"/>
            </a:avLst>
          </a:prstGeom>
          <a:solidFill>
            <a:srgbClr val="F8FAFC"/>
          </a:solidFill>
          <a:ln w="15240">
            <a:solidFill>
              <a:srgbClr val="7E22C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08576" y="1783080"/>
            <a:ext cx="297180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E22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Pillar 2: Multimodal EKF Fusion
</a:t>
            </a:r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Extended Kalman Filter (EKF):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Fuse radar range and Doppler range-rate with camera 2D azimuth and elevation angles.
</a:t>
            </a:r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Sensor Complementarity: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Radar excels at depth &amp; speed (immune to rain/glare); Vision excels at lateral position &amp; classification.
</a:t>
            </a:r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Track Persistence &amp; Gating: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Mahalanobis distance gating to prevent ghost association and maintain persistent track IDs.
</a:t>
            </a:r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Ego-Motion Compensation: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LSM6DSL yaw rate and IMU velocity dynamically subtracted from radar Doppler vectors.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19872" y="1600200"/>
            <a:ext cx="3337560" cy="4709160"/>
          </a:xfrm>
          <a:prstGeom prst="roundRect">
            <a:avLst>
              <a:gd name="adj" fmla="val 1644"/>
            </a:avLst>
          </a:prstGeom>
          <a:solidFill>
            <a:srgbClr val="F8FAFC"/>
          </a:solidFill>
          <a:ln w="15240">
            <a:solidFill>
              <a:srgbClr val="1580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02752" y="1783080"/>
            <a:ext cx="297180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Pillar 3: Active Safety Warnings
</a:t>
            </a:r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Forward Collision Warning (FCW):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Compute Time-to-Collision (TTC = Range / -RangeRate). Trigger audio-visual alerts when TTC &lt; 2.5s.
</a:t>
            </a:r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Blind Spot Detection (BSD):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Radar boundary monitoring in adjacent lane zones (lateral 1.5m to 4.5m, setback -5m to +2m).
</a:t>
            </a:r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Cockpit HUD Warning Overlays: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Red visual warning halos and audible vehicle speaker chimes on high-priority collision vectors.
</a:t>
            </a:r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Event Tagging &amp; Highlight Export: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Automatically tag near-miss events in MCAP and session_timeline.csv for fleet safety analysis.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HANDOVER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Consolidated Milestones &amp; Immediate Action Items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Summary of Week 2 deliverables and execution plan for Week 3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811512" y="411480"/>
            <a:ext cx="1645920" cy="329184"/>
          </a:xfrm>
          <a:prstGeom prst="roundRect">
            <a:avLst>
              <a:gd name="adj" fmla="val 1388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11512" y="41148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ROADSENSE • WEEK 2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31520" y="1389888"/>
            <a:ext cx="10728655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0" y="6492240"/>
            <a:ext cx="15846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11 of 11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31520" y="649224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• BAJAJ AUTO LTD. • ADVANCED PERCEPTION &amp; TELEMETRY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31520" y="1600200"/>
            <a:ext cx="5166360" cy="4709160"/>
          </a:xfrm>
          <a:prstGeom prst="roundRect">
            <a:avLst>
              <a:gd name="adj" fmla="val 1165"/>
            </a:avLst>
          </a:prstGeom>
          <a:solidFill>
            <a:srgbClr val="F8FAFC"/>
          </a:solidFill>
          <a:ln w="15240">
            <a:solidFill>
              <a:srgbClr val="1580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783080"/>
            <a:ext cx="480060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Sprint 2 Key Accomplishments
</a:t>
            </a:r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6-DOF Spatial Calibration Complete: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Full [R|T] extrinsics and Camera2 K matrix operational.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Reverse Touch Solver snaps pitch/yaw in &lt;60 seconds.
</a:t>
            </a:r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RViz-Inspired Radar Overlays: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12-segment road contact footprints and vertical stems solve depth ambiguity.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Staggered distance range rings render seamlessly in live viewfinder.
</a:t>
            </a:r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100 Hz LSM6DSL Kinematics: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Gravity-free linear acceleration and magnetic-immune 6-DOF orientation.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Sub-2ms inter-frame jitter verified via monotonic hardware clock.
</a:t>
            </a:r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High-Throughput Desktop Toolchain: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Zero-dependency web dashboard (:8088) with real-time SSE progress.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Zero-cost MCAP video demuxing at &gt;11,500 FPS (~3.4s, 0% GPU load).
</a:t>
            </a:r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Production Engineering Hardening: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Bugs #11 to #15 diagnosed and permanently eliminated; 24/24 unit tests passing.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91072" y="1600200"/>
            <a:ext cx="5166360" cy="4709160"/>
          </a:xfrm>
          <a:prstGeom prst="roundRect">
            <a:avLst>
              <a:gd name="adj" fmla="val 1165"/>
            </a:avLst>
          </a:prstGeom>
          <a:solidFill>
            <a:srgbClr val="F8FAFC"/>
          </a:solidFill>
          <a:ln w="1524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3952" y="1783080"/>
            <a:ext cx="480060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Immediate Action Items &amp; Week 3 Sprint
</a:t>
            </a:r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Vehicle Test Track Verification: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Validate 6-DOF Reverse Touch Solver across 5 varied vehicle mounting heights and windshield rake angles on the Bajaj test track.
</a:t>
            </a:r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Extended Drive Cycle Thermal Validation: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Execute continuous 60-minute logging runs under high ambient heat (38°C+) to benchmark sustained 100 Hz IMU jitter and Camera2 thermals.
</a:t>
            </a:r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TFLite Edge Perception Pipeline: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Integrate quantized YOLOv8-nano model on Android NNAPI/GPU delegate for 30 FPS vehicle and pedestrian bounding box detection.
</a:t>
            </a:r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Multimodal EKF Tracker Development: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Implement Kotlin Extended Kalman Filter fusing radar Doppler velocity with vision bounding box centroids.
</a:t>
            </a:r>
            <a:pPr indent="0" marL="0">
              <a:buNone/>
            </a:pPr>
            <a:r>
              <a:rPr lang="en-US" sz="120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 &amp; Technical Discussion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 standalone="yes"?>
<Properties xmlns="http://schemas.openxmlformats.org/officeDocument/2006/extended-properties" xmlns:vt="http://schemas.openxmlformats.org/officeDocument/2006/docPropsVTypes">
	<TotalTime>0</TotalTime>
	<Words>0</Words>
	<Application>Microsoft Office PowerPoint</Application>
	<PresentationFormat>On-screen Show (16:9)</PresentationFormat>
	<Paragraphs>0</Paragraphs>
	<Slides>11</Slides>
	<Notes>11</Notes>
	<HiddenSlides>0</HiddenSlides>
	<MMClips>0</MMClips>
	<ScaleCrop>false</ScaleCrop>
	<HeadingPairs>
		<vt:vector size="6" baseType="variant">
			<vt:variant><vt:lpstr>Fonts Used</vt:lpstr></vt:variant>
			<vt:variant><vt:i4>2</vt:i4></vt:variant>
			<vt:variant><vt:lpstr>Theme</vt:lpstr></vt:variant>
			<vt:variant><vt:i4>1</vt:i4></vt:variant>
			<vt:variant><vt:lpstr>Slide Titles</vt:lpstr></vt:variant>
			<vt:variant><vt:i4>11</vt:i4></vt:variant>
		</vt:vector>
	</HeadingPairs>
	<TitlesOfParts>
		<vt:vector size="14" baseType="lpstr">
			<vt:lpstr>Arial</vt:lpstr>
			<vt:lpstr>Calibri</vt:lpstr>
			<vt:lpstr>Office Theme</vt:lpstr>
			<vt:lpstr>Slide 1</vt:lpstr><vt:lpstr>Slide 2</vt:lpstr><vt:lpstr>Slide 3</vt:lpstr><vt:lpstr>Slide 4</vt:lpstr><vt:lpstr>Slide 5</vt:lpstr><vt:lpstr>Slide 6</vt:lpstr><vt:lpstr>Slide 7</vt:lpstr><vt:lpstr>Slide 8</vt:lpstr><vt:lpstr>Slide 9</vt:lpstr><vt:lpstr>Slide 10</vt:lpstr><vt:lpstr>Slide 11</vt:lpstr>
		</vt:vector>
	</TitlesOfParts>
	<Company>Bajaj Auto Ltd. - Advanced Perception & Telemetry</Company>
	<LinksUpToDate>false</LinksUpToDate>
	<SharedDoc>false</SharedDoc>
	<HyperlinksChanged>false</HyperlinksChanged>
	<AppVersion>16.0000</AppVersion>
	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RoadSense: Week 2 Progress — Spatial Fusion, 100 Hz Kinematics &amp; MCAP Perception Cockpit</dc:title>
  <dc:subject>PptxGenJS Presentation</dc:subject>
  <dc:creator>RoadSense Core Engineering Team</dc:creator>
  <cp:lastModifiedBy>RoadSense Core Engineering Team</cp:lastModifiedBy>
  <cp:revision>1</cp:revision>
  <dcterms:created xsi:type="dcterms:W3CDTF">2026-09-29T10:22:23Z</dcterms:created>
  <dcterms:modified xsi:type="dcterms:W3CDTF">2026-09-29T10:22:23Z</dcterms:modified>
</cp:coreProperties>
</file>